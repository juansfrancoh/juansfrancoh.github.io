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3D4A"/>
          </a:solidFill>
          <a:ln w="12700">
            <a:solidFill>
              <a:srgbClr val="0A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PART 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— Predicting Workspace Amenity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699 · Team 5 · Zurich Airbnb Listings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&amp; Predictors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has_workspace — binary flag built from the </a:t>
            </a:r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column (56% / 44% split — reasonably balanced)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numerical features spanning price, size, geography, demand, host scale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1,946 rows after dropping missing values (588 dropped from 2,534)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 stratified train-test split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 on training set only (distance-based model)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CV over odd k ∈ {1, 3, … 51} to avoid tied votes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5029200" cy="1188720"/>
          </a:xfrm>
          <a:prstGeom prst="rect">
            <a:avLst/>
          </a:prstGeom>
          <a:solidFill>
            <a:srgbClr val="0A3D4A"/>
          </a:solidFill>
          <a:ln w="12700">
            <a:solidFill>
              <a:srgbClr val="0A3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0749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834640" y="50749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CV accuracy: 63.4%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13716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 peaks sharply at k = 5, declines gradually thereafter</a:t>
            </a:r>
            <a:endParaRPr lang="en-US" sz="1100" dirty="0"/>
          </a:p>
        </p:txBody>
      </p:sp>
      <p:pic>
        <p:nvPicPr>
          <p:cNvPr id="14" name="Image 0" descr="/home/claude/imgs/knn_k_tu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737360"/>
            <a:ext cx="5852160" cy="29260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035040" y="4846320"/>
            <a:ext cx="585216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4937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set (10 features)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72200" y="52120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· accommodates · beds · latitude · longitude · number_of_reviews · availability_365 · minimum_nights · review_scores_rating · host_listings_count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3D4A"/>
          </a:solidFill>
          <a:ln w="12700">
            <a:solidFill>
              <a:srgbClr val="0A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PART 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Results — Modest Lift Over Baseline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699 · Team 5 · Zurich Airbnb Listings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5661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73152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08760"/>
            <a:ext cx="33375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60.8%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3337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test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5661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371600"/>
            <a:ext cx="73152" cy="1371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508760"/>
            <a:ext cx="33375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58.7%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0" y="2194560"/>
            <a:ext cx="3337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benchmark (majority class)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5661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371600"/>
            <a:ext cx="73152" cy="13716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508760"/>
            <a:ext cx="33375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+2.1pp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321040" y="2194560"/>
            <a:ext cx="3337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baseline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set, n = 584)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37560"/>
          <a:ext cx="5486400" cy="160020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1920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492240" y="2971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</a:t>
            </a:r>
            <a:endParaRPr lang="en-US" sz="14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337560"/>
          <a:ext cx="5394960" cy="16002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workspace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workspace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640080" y="5212080"/>
            <a:ext cx="1124712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0080" y="5212080"/>
            <a:ext cx="91440" cy="1143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68680" y="5303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68680" y="55778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beats the majority-class baseline by only ~2 percentage points. Recall on listings WITH a workspace is strong (0.78), but recall on listings WITHOUT one is weak (0.37) — the model leans toward the majority class when the feature pattern is ambiguous. KNN provides some predictive signal, but limited.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3D4A"/>
          </a:solidFill>
          <a:ln w="12700">
            <a:solidFill>
              <a:srgbClr val="0A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PART II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Tree — Predicting Host Response Time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699 · Team 5 · Zurich Airbnb Listings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&amp; Predictors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host_response_time — 4 classes, imbalanced (62% 'within an hour')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numerical features — host behavior, listing traits, demand, review scores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1,545 rows; booleans mapped t/f → 1/0 for numerical splits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Strategy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full unrestricted tree on training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ccp_alpha candidates via cost_complexity_pruning_path()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CV over every alpha — picked the one maximising mean accuracy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892040"/>
            <a:ext cx="169164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4892040"/>
            <a:ext cx="73152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029200"/>
            <a:ext cx="1463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22960" y="5715000"/>
            <a:ext cx="14630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pruning 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4892040"/>
            <a:ext cx="169164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4892040"/>
            <a:ext cx="73152" cy="1371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5029200"/>
            <a:ext cx="1463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651760" y="5715000"/>
            <a:ext cx="14630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depth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4892040"/>
            <a:ext cx="169164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4892040"/>
            <a:ext cx="73152" cy="1371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5029200"/>
            <a:ext cx="1463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480560" y="5715000"/>
            <a:ext cx="14630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371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 tree — two host behavior variables drive the early splits</a:t>
            </a:r>
            <a:endParaRPr lang="en-US" sz="1100" dirty="0"/>
          </a:p>
        </p:txBody>
      </p:sp>
      <p:pic>
        <p:nvPicPr>
          <p:cNvPr id="23" name="Image 0" descr="/home/claude/imgs/tree_viz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737360"/>
            <a:ext cx="5669280" cy="30175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217920" y="4892040"/>
            <a:ext cx="5669280" cy="1371600"/>
          </a:xfrm>
          <a:prstGeom prst="rect">
            <a:avLst/>
          </a:prstGeom>
          <a:solidFill>
            <a:srgbClr val="0A3D4A"/>
          </a:solidFill>
          <a:ln w="12700">
            <a:solidFill>
              <a:srgbClr val="0A3D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48920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75.8%</a:t>
            </a:r>
            <a:endParaRPr lang="en-US" sz="4400" dirty="0"/>
          </a:p>
        </p:txBody>
      </p:sp>
      <p:sp>
        <p:nvSpPr>
          <p:cNvPr id="26" name="Text 23"/>
          <p:cNvSpPr/>
          <p:nvPr/>
        </p:nvSpPr>
        <p:spPr>
          <a:xfrm>
            <a:off x="8503920" y="4892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CV ACCURACY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optimal pruning level — strong enough to generalise, simple enough to avoid overfitting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3D4A"/>
          </a:solidFill>
          <a:ln w="12700">
            <a:solidFill>
              <a:srgbClr val="0A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PART II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Results — 12-Point Lift and a Two-Variable Story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699 · Team 5 · Zurich Airbnb Listings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5661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73152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08760"/>
            <a:ext cx="33375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73.9%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3337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test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5661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371600"/>
            <a:ext cx="73152" cy="1371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508760"/>
            <a:ext cx="33375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61.9%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0" y="2194560"/>
            <a:ext cx="3337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benchmark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5661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371600"/>
            <a:ext cx="73152" cy="1371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508760"/>
            <a:ext cx="33375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+12pp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321040" y="2194560"/>
            <a:ext cx="3337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baseline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 (test set, n = 464)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37560"/>
          <a:ext cx="54864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914400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few days or more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a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a few 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an hour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492240" y="2971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Importances</a:t>
            </a:r>
            <a:endParaRPr lang="en-US" sz="1400" dirty="0"/>
          </a:p>
        </p:txBody>
      </p:sp>
      <p:pic>
        <p:nvPicPr>
          <p:cNvPr id="21" name="Image 0" descr="/home/claude/imgs/feature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3291840"/>
            <a:ext cx="5394960" cy="192024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40080" y="5440680"/>
            <a:ext cx="1124712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0080" y="5440680"/>
            <a:ext cx="9144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68680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68680" y="5806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host_acceptance_rate (49.9%)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host_response_rate (25.5%)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together drive 75%+ of all splits. The tree excels at the two extreme classes (F1 = 1.00 and 0.86) but struggles to separate the two middle categories — a common pattern with imbalanced ordinal targets.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Zurich Airbnb — Classification</dc:title>
  <dc:subject>PptxGenJS Presentation</dc:subject>
  <dc:creator>AD 699 Team 5</dc:creator>
  <cp:lastModifiedBy>AD 699 Team 5</cp:lastModifiedBy>
  <cp:revision>1</cp:revision>
  <dcterms:created xsi:type="dcterms:W3CDTF">2026-04-19T16:11:50Z</dcterms:created>
  <dcterms:modified xsi:type="dcterms:W3CDTF">2026-04-19T16:11:50Z</dcterms:modified>
</cp:coreProperties>
</file>